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8" r:id="rId5"/>
    <p:sldId id="275" r:id="rId6"/>
    <p:sldId id="259" r:id="rId7"/>
    <p:sldId id="269" r:id="rId8"/>
    <p:sldId id="260" r:id="rId9"/>
    <p:sldId id="262" r:id="rId10"/>
    <p:sldId id="261" r:id="rId11"/>
    <p:sldId id="270" r:id="rId12"/>
    <p:sldId id="271" r:id="rId13"/>
    <p:sldId id="272" r:id="rId14"/>
    <p:sldId id="266" r:id="rId15"/>
    <p:sldId id="273" r:id="rId16"/>
    <p:sldId id="274" r:id="rId17"/>
    <p:sldId id="267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k Mishra" userId="f39131b2fa7ce376" providerId="LiveId" clId="{1A2952F3-5A5C-45FF-AD89-A4092F607D3B}"/>
    <pc:docChg chg="custSel addSld delSld modSld">
      <pc:chgData name="Shlok Mishra" userId="f39131b2fa7ce376" providerId="LiveId" clId="{1A2952F3-5A5C-45FF-AD89-A4092F607D3B}" dt="2026-02-18T06:24:50.002" v="30" actId="20577"/>
      <pc:docMkLst>
        <pc:docMk/>
      </pc:docMkLst>
      <pc:sldChg chg="modSp mod">
        <pc:chgData name="Shlok Mishra" userId="f39131b2fa7ce376" providerId="LiveId" clId="{1A2952F3-5A5C-45FF-AD89-A4092F607D3B}" dt="2026-02-18T06:19:15.153" v="19" actId="12"/>
        <pc:sldMkLst>
          <pc:docMk/>
          <pc:sldMk cId="2878976597" sldId="258"/>
        </pc:sldMkLst>
        <pc:spChg chg="mod">
          <ac:chgData name="Shlok Mishra" userId="f39131b2fa7ce376" providerId="LiveId" clId="{1A2952F3-5A5C-45FF-AD89-A4092F607D3B}" dt="2026-02-18T06:19:15.153" v="19" actId="12"/>
          <ac:spMkLst>
            <pc:docMk/>
            <pc:sldMk cId="2878976597" sldId="258"/>
            <ac:spMk id="3" creationId="{E031CBD1-1236-BD10-F9B4-E2675BA38ED1}"/>
          </ac:spMkLst>
        </pc:spChg>
      </pc:sldChg>
      <pc:sldChg chg="modSp mod">
        <pc:chgData name="Shlok Mishra" userId="f39131b2fa7ce376" providerId="LiveId" clId="{1A2952F3-5A5C-45FF-AD89-A4092F607D3B}" dt="2026-02-18T06:20:36.860" v="20" actId="1076"/>
        <pc:sldMkLst>
          <pc:docMk/>
          <pc:sldMk cId="310308161" sldId="259"/>
        </pc:sldMkLst>
        <pc:spChg chg="mod">
          <ac:chgData name="Shlok Mishra" userId="f39131b2fa7ce376" providerId="LiveId" clId="{1A2952F3-5A5C-45FF-AD89-A4092F607D3B}" dt="2026-02-18T06:20:36.860" v="20" actId="1076"/>
          <ac:spMkLst>
            <pc:docMk/>
            <pc:sldMk cId="310308161" sldId="259"/>
            <ac:spMk id="3" creationId="{7485F665-7E3B-0A75-0EE5-8FA0D35D261D}"/>
          </ac:spMkLst>
        </pc:spChg>
      </pc:sldChg>
      <pc:sldChg chg="modSp mod">
        <pc:chgData name="Shlok Mishra" userId="f39131b2fa7ce376" providerId="LiveId" clId="{1A2952F3-5A5C-45FF-AD89-A4092F607D3B}" dt="2026-02-15T09:55:52.062" v="5" actId="1076"/>
        <pc:sldMkLst>
          <pc:docMk/>
          <pc:sldMk cId="1077724860" sldId="261"/>
        </pc:sldMkLst>
        <pc:spChg chg="mod">
          <ac:chgData name="Shlok Mishra" userId="f39131b2fa7ce376" providerId="LiveId" clId="{1A2952F3-5A5C-45FF-AD89-A4092F607D3B}" dt="2026-02-15T09:55:47.943" v="4" actId="1076"/>
          <ac:spMkLst>
            <pc:docMk/>
            <pc:sldMk cId="1077724860" sldId="261"/>
            <ac:spMk id="2" creationId="{EAC2C796-D371-7EE6-056A-4956DC25840D}"/>
          </ac:spMkLst>
        </pc:spChg>
        <pc:spChg chg="mod">
          <ac:chgData name="Shlok Mishra" userId="f39131b2fa7ce376" providerId="LiveId" clId="{1A2952F3-5A5C-45FF-AD89-A4092F607D3B}" dt="2026-02-15T09:55:34.015" v="0" actId="20577"/>
          <ac:spMkLst>
            <pc:docMk/>
            <pc:sldMk cId="1077724860" sldId="261"/>
            <ac:spMk id="3" creationId="{F7E7EF98-E6AD-70D5-2BE9-3A859F15DFF4}"/>
          </ac:spMkLst>
        </pc:spChg>
        <pc:picChg chg="mod">
          <ac:chgData name="Shlok Mishra" userId="f39131b2fa7ce376" providerId="LiveId" clId="{1A2952F3-5A5C-45FF-AD89-A4092F607D3B}" dt="2026-02-15T09:55:52.062" v="5" actId="1076"/>
          <ac:picMkLst>
            <pc:docMk/>
            <pc:sldMk cId="1077724860" sldId="261"/>
            <ac:picMk id="5" creationId="{88020009-06F6-5FD5-C783-1902A45F1580}"/>
          </ac:picMkLst>
        </pc:picChg>
      </pc:sldChg>
      <pc:sldChg chg="del">
        <pc:chgData name="Shlok Mishra" userId="f39131b2fa7ce376" providerId="LiveId" clId="{1A2952F3-5A5C-45FF-AD89-A4092F607D3B}" dt="2026-02-18T06:24:30.929" v="21" actId="47"/>
        <pc:sldMkLst>
          <pc:docMk/>
          <pc:sldMk cId="2724917500" sldId="263"/>
        </pc:sldMkLst>
      </pc:sldChg>
      <pc:sldChg chg="modSp mod">
        <pc:chgData name="Shlok Mishra" userId="f39131b2fa7ce376" providerId="LiveId" clId="{1A2952F3-5A5C-45FF-AD89-A4092F607D3B}" dt="2026-02-18T06:24:50.002" v="30" actId="20577"/>
        <pc:sldMkLst>
          <pc:docMk/>
          <pc:sldMk cId="2154956931" sldId="267"/>
        </pc:sldMkLst>
        <pc:spChg chg="mod">
          <ac:chgData name="Shlok Mishra" userId="f39131b2fa7ce376" providerId="LiveId" clId="{1A2952F3-5A5C-45FF-AD89-A4092F607D3B}" dt="2026-02-18T06:24:50.002" v="30" actId="20577"/>
          <ac:spMkLst>
            <pc:docMk/>
            <pc:sldMk cId="2154956931" sldId="267"/>
            <ac:spMk id="3" creationId="{996084D1-BF8A-599C-4DEE-5FD15C78EC1C}"/>
          </ac:spMkLst>
        </pc:spChg>
      </pc:sldChg>
      <pc:sldChg chg="delSp mod">
        <pc:chgData name="Shlok Mishra" userId="f39131b2fa7ce376" providerId="LiveId" clId="{1A2952F3-5A5C-45FF-AD89-A4092F607D3B}" dt="2026-02-15T09:56:03.011" v="6" actId="21"/>
        <pc:sldMkLst>
          <pc:docMk/>
          <pc:sldMk cId="2065781088" sldId="268"/>
        </pc:sldMkLst>
      </pc:sldChg>
      <pc:sldChg chg="addSp delSp modSp new mod">
        <pc:chgData name="Shlok Mishra" userId="f39131b2fa7ce376" providerId="LiveId" clId="{1A2952F3-5A5C-45FF-AD89-A4092F607D3B}" dt="2026-02-15T09:56:27.997" v="13" actId="14100"/>
        <pc:sldMkLst>
          <pc:docMk/>
          <pc:sldMk cId="998812809" sldId="275"/>
        </pc:sldMkLst>
        <pc:picChg chg="add mod">
          <ac:chgData name="Shlok Mishra" userId="f39131b2fa7ce376" providerId="LiveId" clId="{1A2952F3-5A5C-45FF-AD89-A4092F607D3B}" dt="2026-02-15T09:56:27.997" v="13" actId="14100"/>
          <ac:picMkLst>
            <pc:docMk/>
            <pc:sldMk cId="998812809" sldId="275"/>
            <ac:picMk id="5" creationId="{0B1CDB59-5FCD-CEE6-F6C9-53C70152DF5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A4878C-C09C-4E62-B776-3DE791D8B412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83E88C-5F34-4F91-AF49-72987AC9F2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9983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3E88C-5F34-4F91-AF49-72987AC9F2E4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6004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71609"/>
            <a:ext cx="9144000" cy="978194"/>
          </a:xfrm>
        </p:spPr>
        <p:txBody>
          <a:bodyPr>
            <a:normAutofit fontScale="90000"/>
          </a:bodyPr>
          <a:lstStyle/>
          <a:p>
            <a:r>
              <a:rPr lang="en-US" dirty="0"/>
              <a:t>English Text Extraction using OCR and Translation to Hindi using Transformer Mode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/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Shlok Mishra</a:t>
            </a:r>
          </a:p>
          <a:p>
            <a:r>
              <a:rPr lang="en-IN" dirty="0"/>
              <a:t>23FE10CSE00492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  <a:br>
              <a:rPr lang="en-IN" dirty="0"/>
            </a:br>
            <a:r>
              <a:rPr lang="en-IN" dirty="0"/>
              <a:t>Dr Ridhi Arora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4000" y="1082321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Solution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0" b="1" dirty="0"/>
              <a:t>Background</a:t>
            </a:r>
          </a:p>
          <a:p>
            <a:r>
              <a:rPr lang="en-US" sz="9600" dirty="0"/>
              <a:t>Many documents in India are available in </a:t>
            </a:r>
            <a:r>
              <a:rPr lang="en-US" sz="9600" b="1" dirty="0"/>
              <a:t>English language only</a:t>
            </a:r>
            <a:endParaRPr lang="en-US" sz="9600" dirty="0"/>
          </a:p>
          <a:p>
            <a:r>
              <a:rPr lang="en-US" sz="9600" dirty="0"/>
              <a:t>A large population prefers </a:t>
            </a:r>
            <a:r>
              <a:rPr lang="en-US" sz="9600" b="1" dirty="0"/>
              <a:t>Hindi for better understanding</a:t>
            </a:r>
            <a:endParaRPr lang="en-US" sz="9600" dirty="0"/>
          </a:p>
          <a:p>
            <a:r>
              <a:rPr lang="en-US" sz="9600" dirty="0"/>
              <a:t>Manual translation of scanned documents is time-consuming</a:t>
            </a:r>
          </a:p>
          <a:p>
            <a:r>
              <a:rPr lang="en-US" sz="9600" dirty="0"/>
              <a:t>Important sectors affected: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Government forms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Medical prescriptions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Educational material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Historical records</a:t>
            </a:r>
          </a:p>
          <a:p>
            <a:pPr marL="0" indent="0">
              <a:buNone/>
            </a:pPr>
            <a:r>
              <a:rPr lang="en-US" sz="9600" b="1" dirty="0"/>
              <a:t>Key Technologies Used</a:t>
            </a:r>
          </a:p>
          <a:p>
            <a:r>
              <a:rPr lang="en-US" sz="9600" dirty="0"/>
              <a:t>Optical Character Recognition (OCR)</a:t>
            </a:r>
          </a:p>
          <a:p>
            <a:r>
              <a:rPr lang="en-US" sz="9600" dirty="0"/>
              <a:t>Natural Language Processing (NLP)</a:t>
            </a:r>
          </a:p>
          <a:p>
            <a:r>
              <a:rPr lang="en-US" sz="9600" dirty="0"/>
              <a:t>Transformer Neural Networks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1AE6C-A2FF-B583-B1DA-F7C37C132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0F8E3-EC53-4FAE-AE7B-A2452DFC5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What is OCR?</a:t>
            </a:r>
          </a:p>
          <a:p>
            <a:r>
              <a:rPr lang="en-US" sz="2400" dirty="0"/>
              <a:t>Optical Character Recognition (OCR) is a computer vision technique used to detect and convert text from images, scanned documents, or photographs into machine-readable text.</a:t>
            </a:r>
          </a:p>
          <a:p>
            <a:r>
              <a:rPr lang="en-US" sz="2400" b="1" dirty="0"/>
              <a:t>What is Machine Translation?</a:t>
            </a:r>
          </a:p>
          <a:p>
            <a:r>
              <a:rPr lang="en-US" sz="2400" dirty="0"/>
              <a:t>Machine Translation is an NLP task where a computer automatically converts text from one language to another.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5781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9C58-9282-1A49-EC7B-EAB6DDBB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1CDB59-5FCD-CEE6-F6C9-53C70152DF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12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b="1" dirty="0"/>
              <a:t>Optical Character Recognition</a:t>
            </a:r>
          </a:p>
          <a:p>
            <a:r>
              <a:rPr lang="en-IN" sz="2400" dirty="0"/>
              <a:t>Early OCR used pattern matching and template matching</a:t>
            </a:r>
          </a:p>
          <a:p>
            <a:r>
              <a:rPr lang="en-IN" sz="2400" dirty="0"/>
              <a:t>Modern OCR uses deep learning and convolutional neural networks</a:t>
            </a:r>
          </a:p>
          <a:p>
            <a:r>
              <a:rPr lang="en-IN" sz="2400" dirty="0"/>
              <a:t>Popular tools:</a:t>
            </a:r>
          </a:p>
          <a:p>
            <a:pPr lvl="1"/>
            <a:r>
              <a:rPr lang="en-IN" dirty="0"/>
              <a:t>Tesseract OCR</a:t>
            </a:r>
          </a:p>
          <a:p>
            <a:pPr lvl="1"/>
            <a:r>
              <a:rPr lang="en-IN" dirty="0"/>
              <a:t>Google Vision OCR</a:t>
            </a:r>
          </a:p>
          <a:p>
            <a:pPr marL="0" indent="0">
              <a:buNone/>
            </a:pPr>
            <a:r>
              <a:rPr lang="en-IN" sz="2400" b="1" dirty="0"/>
              <a:t>Research Observations</a:t>
            </a:r>
          </a:p>
          <a:p>
            <a:r>
              <a:rPr lang="en-IN" sz="2400" dirty="0"/>
              <a:t>OCR accuracy depends on:</a:t>
            </a:r>
          </a:p>
          <a:p>
            <a:pPr lvl="1"/>
            <a:r>
              <a:rPr lang="en-IN" dirty="0"/>
              <a:t>Image quality</a:t>
            </a:r>
          </a:p>
          <a:p>
            <a:pPr lvl="1"/>
            <a:r>
              <a:rPr lang="en-IN" dirty="0"/>
              <a:t>Lighting</a:t>
            </a:r>
          </a:p>
          <a:p>
            <a:pPr lvl="1"/>
            <a:r>
              <a:rPr lang="en-IN" dirty="0"/>
              <a:t>Font style</a:t>
            </a:r>
          </a:p>
          <a:p>
            <a:pPr lvl="1"/>
            <a:r>
              <a:rPr lang="en-IN" dirty="0"/>
              <a:t>Noise in image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B6D0-4A9F-FE62-FD40-0AD5885D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8F18C-1EBE-4C31-C5FE-2D4721589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Transformer Models</a:t>
            </a:r>
          </a:p>
          <a:p>
            <a:r>
              <a:rPr lang="en-US" sz="2400" dirty="0"/>
              <a:t>Introduced in 2017 (Attention Is All You Need)</a:t>
            </a:r>
          </a:p>
          <a:p>
            <a:r>
              <a:rPr lang="en-US" sz="2400" dirty="0"/>
              <a:t>Uses </a:t>
            </a:r>
            <a:r>
              <a:rPr lang="en-US" sz="2400" b="1" dirty="0"/>
              <a:t>self-attention mechanism</a:t>
            </a:r>
            <a:endParaRPr lang="en-US" sz="2400" dirty="0"/>
          </a:p>
          <a:p>
            <a:r>
              <a:rPr lang="en-US" sz="2400" dirty="0"/>
              <a:t>Handles long sentences efficiently</a:t>
            </a:r>
          </a:p>
          <a:p>
            <a:r>
              <a:rPr lang="en-US" sz="2400" dirty="0"/>
              <a:t>Currently state-of-the-art in language translation</a:t>
            </a:r>
          </a:p>
          <a:p>
            <a:pPr marL="0" indent="0">
              <a:buNone/>
            </a:pPr>
            <a:r>
              <a:rPr lang="en-US" sz="2400" dirty="0"/>
              <a:t>Advantages:</a:t>
            </a:r>
          </a:p>
          <a:p>
            <a:r>
              <a:rPr lang="en-US" sz="2400" dirty="0"/>
              <a:t>Better grammar understanding</a:t>
            </a:r>
          </a:p>
          <a:p>
            <a:r>
              <a:rPr lang="en-US" sz="2400" dirty="0"/>
              <a:t>Context aware translation</a:t>
            </a:r>
          </a:p>
          <a:p>
            <a:r>
              <a:rPr lang="en-US" sz="2400" dirty="0"/>
              <a:t>Parallel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379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 develop an automated system that extracts English text from images and accurately translates it into Hindi using a Transformer-based Neural Machine Translation model.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Extract English text from images using OCR</a:t>
            </a:r>
          </a:p>
          <a:p>
            <a:r>
              <a:rPr lang="en-US" sz="2400" dirty="0"/>
              <a:t>Train a Transformer model on English–Hindi dataset</a:t>
            </a:r>
          </a:p>
          <a:p>
            <a:r>
              <a:rPr lang="en-US" sz="2400" dirty="0"/>
              <a:t>Translate extracted English sentences into Hindi</a:t>
            </a:r>
          </a:p>
          <a:p>
            <a:r>
              <a:rPr lang="en-US" sz="2400" dirty="0"/>
              <a:t>Build a complete end-to-end pipeline from image to translated text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020009-06F6-5FD5-C783-1902A45F1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751" y="1052541"/>
            <a:ext cx="8191098" cy="559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8C616-BDE8-703A-6252-80BCA323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2CA1D-B2CB-F61A-1D93-DC6D78C7A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Image Preprocessing</a:t>
            </a:r>
          </a:p>
          <a:p>
            <a:r>
              <a:rPr lang="en-US" sz="2400" dirty="0"/>
              <a:t>Grayscale conversion</a:t>
            </a:r>
          </a:p>
          <a:p>
            <a:r>
              <a:rPr lang="en-US" sz="2400" dirty="0"/>
              <a:t>Noise removal</a:t>
            </a:r>
          </a:p>
          <a:p>
            <a:r>
              <a:rPr lang="en-US" sz="2400" dirty="0"/>
              <a:t>Thresholding</a:t>
            </a:r>
          </a:p>
          <a:p>
            <a:r>
              <a:rPr lang="en-US" sz="2400" dirty="0"/>
              <a:t>Image sharpening</a:t>
            </a:r>
          </a:p>
          <a:p>
            <a:pPr marL="0" indent="0">
              <a:buNone/>
            </a:pPr>
            <a:r>
              <a:rPr lang="en-US" sz="2400" b="1" dirty="0"/>
              <a:t>OCR Extraction</a:t>
            </a:r>
          </a:p>
          <a:p>
            <a:r>
              <a:rPr lang="en-US" sz="2400" dirty="0"/>
              <a:t>Detect characters</a:t>
            </a:r>
          </a:p>
          <a:p>
            <a:r>
              <a:rPr lang="en-US" sz="2400" dirty="0"/>
              <a:t>Recognize words</a:t>
            </a:r>
          </a:p>
          <a:p>
            <a:r>
              <a:rPr lang="en-US" sz="2400" dirty="0"/>
              <a:t>Convert image text to digital English text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984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19-A85B-5772-6527-6336B714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3F174-CEC8-40B5-3DFC-C05DE8643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/>
              <a:t>Transformer Architecture Components</a:t>
            </a:r>
          </a:p>
          <a:p>
            <a:r>
              <a:rPr lang="en-IN" sz="2600" dirty="0"/>
              <a:t>Encoder</a:t>
            </a:r>
          </a:p>
          <a:p>
            <a:r>
              <a:rPr lang="en-IN" sz="2600" dirty="0"/>
              <a:t>Decoder</a:t>
            </a:r>
          </a:p>
          <a:p>
            <a:r>
              <a:rPr lang="en-IN" sz="2600" dirty="0"/>
              <a:t>Attention Mechanism</a:t>
            </a:r>
          </a:p>
          <a:p>
            <a:pPr marL="0" indent="0">
              <a:buNone/>
            </a:pPr>
            <a:r>
              <a:rPr lang="en-IN" sz="2600" b="1" dirty="0"/>
              <a:t>Working</a:t>
            </a:r>
          </a:p>
          <a:p>
            <a:pPr marL="0" indent="0">
              <a:buNone/>
            </a:pPr>
            <a:r>
              <a:rPr lang="en-IN" sz="2600" dirty="0"/>
              <a:t>Encoder:</a:t>
            </a:r>
          </a:p>
          <a:p>
            <a:r>
              <a:rPr lang="en-IN" sz="2600" dirty="0"/>
              <a:t>Reads English sentence</a:t>
            </a:r>
          </a:p>
          <a:p>
            <a:r>
              <a:rPr lang="en-IN" sz="2600" dirty="0"/>
              <a:t>Understands context</a:t>
            </a:r>
          </a:p>
          <a:p>
            <a:pPr marL="0" indent="0">
              <a:buNone/>
            </a:pPr>
            <a:r>
              <a:rPr lang="en-IN" sz="2600" dirty="0"/>
              <a:t>Decoder:</a:t>
            </a:r>
          </a:p>
          <a:p>
            <a:r>
              <a:rPr lang="en-IN" sz="2600" dirty="0"/>
              <a:t>Generates Hindi sentence word-by-word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0818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55D98-0C95-3F13-7DF9-F1FC353B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354DA-9A67-C01C-4D83-0C3446FB5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Translation Process</a:t>
            </a:r>
          </a:p>
          <a:p>
            <a:r>
              <a:rPr lang="en-US" sz="2400" dirty="0"/>
              <a:t>Tokenization of English sentence</a:t>
            </a:r>
          </a:p>
          <a:p>
            <a:r>
              <a:rPr lang="en-US" sz="2400" dirty="0"/>
              <a:t>Embedding generation</a:t>
            </a:r>
          </a:p>
          <a:p>
            <a:r>
              <a:rPr lang="en-US" sz="2400" dirty="0"/>
              <a:t>Attention calculation</a:t>
            </a:r>
          </a:p>
          <a:p>
            <a:r>
              <a:rPr lang="en-US" sz="2400" dirty="0"/>
              <a:t>Hindi sentence prediction</a:t>
            </a:r>
          </a:p>
          <a:p>
            <a:pPr marL="0" indent="0">
              <a:buNone/>
            </a:pPr>
            <a:r>
              <a:rPr lang="en-US" sz="2400" b="1" dirty="0"/>
              <a:t>Output:</a:t>
            </a:r>
            <a:br>
              <a:rPr lang="en-US" sz="2400" dirty="0"/>
            </a:br>
            <a:r>
              <a:rPr lang="en-US" sz="2400" dirty="0"/>
              <a:t>Machine generated Hindi translation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085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D4913-00D1-0B0F-38B7-C226FBBC3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Achieved So Far</a:t>
            </a:r>
          </a:p>
          <a:p>
            <a:r>
              <a:rPr lang="en-US" sz="2400" dirty="0"/>
              <a:t>Transformer model successfully trained</a:t>
            </a:r>
          </a:p>
          <a:p>
            <a:r>
              <a:rPr lang="en-US" sz="2400" dirty="0"/>
              <a:t>Model translates English input sentences into Hindi</a:t>
            </a:r>
          </a:p>
          <a:p>
            <a:r>
              <a:rPr lang="en-US" sz="2400" dirty="0"/>
              <a:t>Producing grammatically correct Hindi outputs for simple sentences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9F577-3219-8384-A825-962BC7F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Loss and Perplexity 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49581B-1C73-92C3-10DF-16E2C0F63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62" y="1868133"/>
            <a:ext cx="5187707" cy="41483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30E53E-4266-2582-CA21-62E04B20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207" y="1868133"/>
            <a:ext cx="5227331" cy="414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6FEE6-25AA-6D14-1308-A47A4D20D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578AC2-8E0C-6062-04E8-EE68B3228D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232624"/>
            <a:ext cx="8343900" cy="971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A37AED-2234-2FE8-BFB9-6C05DD758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5479587"/>
            <a:ext cx="8343897" cy="110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797CA6-C7D3-5ED9-1BC1-2EA522CCCD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784262"/>
            <a:ext cx="8343898" cy="695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CC1FF9-D6CF-DE1E-A1A5-2A3481EB8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072973"/>
            <a:ext cx="8343900" cy="7429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938AE9-26D9-A6C1-8023-66DA79B408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3311696"/>
            <a:ext cx="8336584" cy="7905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18BDF4-19EE-AB53-B8C9-C331D36420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2569125"/>
            <a:ext cx="8343899" cy="7715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C9811C-7910-4BA0-A9CA-88E1C69E4A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1877230"/>
            <a:ext cx="8343900" cy="752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9C957E-5934-4510-EE41-5A915CA651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1204174"/>
            <a:ext cx="83439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5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Future Work:</a:t>
            </a:r>
          </a:p>
          <a:p>
            <a:r>
              <a:rPr lang="en-US" sz="2400" dirty="0"/>
              <a:t>Integrate OCR with translation</a:t>
            </a:r>
          </a:p>
          <a:p>
            <a:r>
              <a:rPr lang="en-US" sz="2400" dirty="0"/>
              <a:t>Complete image-to-Hindi pipeline</a:t>
            </a:r>
          </a:p>
          <a:p>
            <a:r>
              <a:rPr lang="en-US" sz="2400" dirty="0"/>
              <a:t>Improve translation accuracy</a:t>
            </a:r>
          </a:p>
          <a:p>
            <a:r>
              <a:rPr lang="en-US" sz="2400" dirty="0"/>
              <a:t>Create a user interface</a:t>
            </a:r>
          </a:p>
          <a:p>
            <a:pPr marL="0" indent="0">
              <a:buNone/>
            </a:pPr>
            <a:r>
              <a:rPr lang="en-US" sz="2400" b="1" dirty="0"/>
              <a:t>Expected Outcomes</a:t>
            </a:r>
          </a:p>
          <a:p>
            <a:r>
              <a:rPr lang="en-US" sz="2400" dirty="0"/>
              <a:t>Research </a:t>
            </a:r>
            <a:r>
              <a:rPr lang="en-US" sz="2400"/>
              <a:t>Paper </a:t>
            </a:r>
            <a:endParaRPr lang="en-US" sz="2400" dirty="0"/>
          </a:p>
          <a:p>
            <a:r>
              <a:rPr lang="en-US" sz="2400" dirty="0"/>
              <a:t>Real-time deployment (Partially completed)</a:t>
            </a:r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426</Words>
  <Application>Microsoft Office PowerPoint</Application>
  <PresentationFormat>Widescreen</PresentationFormat>
  <Paragraphs>103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Wingdings</vt:lpstr>
      <vt:lpstr>Office Theme</vt:lpstr>
      <vt:lpstr>English Text Extraction using OCR and Translation to Hindi using Transformer Mode</vt:lpstr>
      <vt:lpstr>Outline</vt:lpstr>
      <vt:lpstr>Introduction</vt:lpstr>
      <vt:lpstr>PowerPoint Presentation</vt:lpstr>
      <vt:lpstr>PowerPoint Presentation</vt:lpstr>
      <vt:lpstr>Literature Review</vt:lpstr>
      <vt:lpstr>PowerPoint Presentation</vt:lpstr>
      <vt:lpstr>Problem Statement</vt:lpstr>
      <vt:lpstr>Objectives</vt:lpstr>
      <vt:lpstr>Proposed Methodology</vt:lpstr>
      <vt:lpstr>PowerPoint Presentation</vt:lpstr>
      <vt:lpstr>PowerPoint Presentation</vt:lpstr>
      <vt:lpstr>PowerPoint Presentation</vt:lpstr>
      <vt:lpstr>Result </vt:lpstr>
      <vt:lpstr>Loss and Perplexity Graphs</vt:lpstr>
      <vt:lpstr>PowerPoint Presentation</vt:lpstr>
      <vt:lpstr>Outcome and Future Work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Shlok Mishra</cp:lastModifiedBy>
  <cp:revision>9</cp:revision>
  <dcterms:created xsi:type="dcterms:W3CDTF">2025-09-29T05:03:41Z</dcterms:created>
  <dcterms:modified xsi:type="dcterms:W3CDTF">2026-02-18T06:24:50Z</dcterms:modified>
</cp:coreProperties>
</file>