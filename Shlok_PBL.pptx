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2" r:id="rId9"/>
    <p:sldId id="261" r:id="rId10"/>
    <p:sldId id="270" r:id="rId11"/>
    <p:sldId id="271" r:id="rId12"/>
    <p:sldId id="272" r:id="rId13"/>
    <p:sldId id="266" r:id="rId14"/>
    <p:sldId id="273" r:id="rId15"/>
    <p:sldId id="274" r:id="rId16"/>
    <p:sldId id="267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4878C-C09C-4E62-B776-3DE791D8B412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3E88C-5F34-4F91-AF49-72987AC9F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8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3E88C-5F34-4F91-AF49-72987AC9F2E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0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71609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US" dirty="0"/>
              <a:t>English Text Extraction using OCR and Translation to Hindi using Transformer Mode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Shlok Mishra</a:t>
            </a:r>
          </a:p>
          <a:p>
            <a:r>
              <a:rPr lang="en-IN" dirty="0"/>
              <a:t>23FE10CSE00492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 Ridhi Arora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4000" y="1082321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b="1" dirty="0"/>
              <a:t>Background</a:t>
            </a:r>
          </a:p>
          <a:p>
            <a:r>
              <a:rPr lang="en-US" sz="9600" dirty="0"/>
              <a:t>Many documents in India are available in </a:t>
            </a:r>
            <a:r>
              <a:rPr lang="en-US" sz="9600" b="1" dirty="0"/>
              <a:t>English language only</a:t>
            </a:r>
            <a:endParaRPr lang="en-US" sz="9600" dirty="0"/>
          </a:p>
          <a:p>
            <a:r>
              <a:rPr lang="en-US" sz="9600" dirty="0"/>
              <a:t>A large population prefers </a:t>
            </a:r>
            <a:r>
              <a:rPr lang="en-US" sz="9600" b="1" dirty="0"/>
              <a:t>Hindi for better understanding</a:t>
            </a:r>
            <a:endParaRPr lang="en-US" sz="9600" dirty="0"/>
          </a:p>
          <a:p>
            <a:r>
              <a:rPr lang="en-US" sz="9600" dirty="0"/>
              <a:t>Manual translation of scanned documents is time-consuming</a:t>
            </a:r>
          </a:p>
          <a:p>
            <a:r>
              <a:rPr lang="en-US" sz="9600" dirty="0"/>
              <a:t>Important sectors affected:</a:t>
            </a:r>
          </a:p>
          <a:p>
            <a:pPr lvl="1"/>
            <a:r>
              <a:rPr lang="en-US" sz="9600" dirty="0"/>
              <a:t>Government forms</a:t>
            </a:r>
          </a:p>
          <a:p>
            <a:pPr lvl="1"/>
            <a:r>
              <a:rPr lang="en-US" sz="9600" dirty="0"/>
              <a:t>Medical prescriptions</a:t>
            </a:r>
          </a:p>
          <a:p>
            <a:pPr lvl="1"/>
            <a:r>
              <a:rPr lang="en-US" sz="9600" dirty="0"/>
              <a:t>Educational material</a:t>
            </a:r>
          </a:p>
          <a:p>
            <a:pPr lvl="1"/>
            <a:r>
              <a:rPr lang="en-US" sz="9600" dirty="0"/>
              <a:t>Historical records</a:t>
            </a:r>
          </a:p>
          <a:p>
            <a:r>
              <a:rPr lang="en-US" sz="9600" b="1" dirty="0"/>
              <a:t>Key Technologies Used</a:t>
            </a:r>
          </a:p>
          <a:p>
            <a:r>
              <a:rPr lang="en-US" sz="9600" dirty="0"/>
              <a:t>Optical Character Recognition (OCR)</a:t>
            </a:r>
          </a:p>
          <a:p>
            <a:r>
              <a:rPr lang="en-US" sz="9600" dirty="0"/>
              <a:t>Natural Language Processing (NLP)</a:t>
            </a:r>
          </a:p>
          <a:p>
            <a:r>
              <a:rPr lang="en-US" sz="9600" dirty="0"/>
              <a:t>Transformer Neural Networks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AE6C-A2FF-B583-B1DA-F7C37C13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F8E3-EC53-4FAE-AE7B-A2452DFC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What is OCR?</a:t>
            </a:r>
          </a:p>
          <a:p>
            <a:r>
              <a:rPr lang="en-US" sz="2400" dirty="0"/>
              <a:t>Optical Character Recognition (OCR) is a computer vision technique used to detect and convert text from images, scanned documents, or photographs into machine-readable text.</a:t>
            </a:r>
          </a:p>
          <a:p>
            <a:r>
              <a:rPr lang="en-US" sz="2400" b="1" dirty="0"/>
              <a:t>What is Machine Translation?</a:t>
            </a:r>
          </a:p>
          <a:p>
            <a:r>
              <a:rPr lang="en-US" sz="2400" dirty="0"/>
              <a:t>Machine Translation is an NLP task where a computer automatically converts text from one language to another.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1CDB59-5FCD-CEE6-F6C9-53C70152D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568" y="4247473"/>
            <a:ext cx="4279232" cy="261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8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Optical Character Recognition</a:t>
            </a:r>
          </a:p>
          <a:p>
            <a:r>
              <a:rPr lang="en-IN" sz="2400" dirty="0"/>
              <a:t>Early OCR used pattern matching and template matching</a:t>
            </a:r>
          </a:p>
          <a:p>
            <a:r>
              <a:rPr lang="en-IN" sz="2400" dirty="0"/>
              <a:t>Modern OCR uses deep learning and convolutional neural networks</a:t>
            </a:r>
          </a:p>
          <a:p>
            <a:r>
              <a:rPr lang="en-IN" sz="2400" dirty="0"/>
              <a:t>Popular tools:</a:t>
            </a:r>
          </a:p>
          <a:p>
            <a:pPr lvl="1"/>
            <a:r>
              <a:rPr lang="en-IN" dirty="0"/>
              <a:t>Tesseract OCR</a:t>
            </a:r>
          </a:p>
          <a:p>
            <a:pPr lvl="1"/>
            <a:r>
              <a:rPr lang="en-IN" dirty="0"/>
              <a:t>Google Vision OCR</a:t>
            </a:r>
          </a:p>
          <a:p>
            <a:pPr marL="0" indent="0">
              <a:buNone/>
            </a:pPr>
            <a:r>
              <a:rPr lang="en-IN" sz="2400" b="1" dirty="0"/>
              <a:t>Research Observations</a:t>
            </a:r>
          </a:p>
          <a:p>
            <a:r>
              <a:rPr lang="en-IN" sz="2400" dirty="0"/>
              <a:t>OCR accuracy depends on:</a:t>
            </a:r>
          </a:p>
          <a:p>
            <a:pPr lvl="1"/>
            <a:r>
              <a:rPr lang="en-IN" dirty="0"/>
              <a:t>Image quality</a:t>
            </a:r>
          </a:p>
          <a:p>
            <a:pPr lvl="1"/>
            <a:r>
              <a:rPr lang="en-IN" dirty="0"/>
              <a:t>Lighting</a:t>
            </a:r>
          </a:p>
          <a:p>
            <a:pPr lvl="1"/>
            <a:r>
              <a:rPr lang="en-IN" dirty="0"/>
              <a:t>Font style</a:t>
            </a:r>
          </a:p>
          <a:p>
            <a:pPr lvl="1"/>
            <a:r>
              <a:rPr lang="en-IN" dirty="0"/>
              <a:t>Noise in image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B6D0-4A9F-FE62-FD40-0AD5885D9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F18C-1EBE-4C31-C5FE-2D4721589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Transformer Models</a:t>
            </a:r>
          </a:p>
          <a:p>
            <a:r>
              <a:rPr lang="en-US" sz="2400" dirty="0"/>
              <a:t>Introduced in 2017 (Attention Is All You Need)</a:t>
            </a:r>
          </a:p>
          <a:p>
            <a:r>
              <a:rPr lang="en-US" sz="2400" dirty="0"/>
              <a:t>Uses </a:t>
            </a:r>
            <a:r>
              <a:rPr lang="en-US" sz="2400" b="1" dirty="0"/>
              <a:t>self-attention mechanism</a:t>
            </a:r>
            <a:endParaRPr lang="en-US" sz="2400" dirty="0"/>
          </a:p>
          <a:p>
            <a:r>
              <a:rPr lang="en-US" sz="2400" dirty="0"/>
              <a:t>Handles long sentences efficiently</a:t>
            </a:r>
          </a:p>
          <a:p>
            <a:r>
              <a:rPr lang="en-US" sz="2400" dirty="0"/>
              <a:t>Currently state-of-the-art in language translation</a:t>
            </a:r>
          </a:p>
          <a:p>
            <a:pPr marL="0" indent="0">
              <a:buNone/>
            </a:pPr>
            <a:r>
              <a:rPr lang="en-US" sz="2400" dirty="0"/>
              <a:t>Advantages:</a:t>
            </a:r>
          </a:p>
          <a:p>
            <a:r>
              <a:rPr lang="en-US" sz="2400" dirty="0"/>
              <a:t>Better grammar understanding</a:t>
            </a:r>
          </a:p>
          <a:p>
            <a:r>
              <a:rPr lang="en-US" sz="2400" dirty="0"/>
              <a:t>Context aware translation</a:t>
            </a:r>
          </a:p>
          <a:p>
            <a:r>
              <a:rPr lang="en-US" sz="2400" dirty="0"/>
              <a:t>Parallel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37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develop an automated system that extracts English text from images and accurately translates it into Hindi using a Transformer-based Neural Machine Translation model.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Extract English text from images using OCR</a:t>
            </a:r>
          </a:p>
          <a:p>
            <a:r>
              <a:rPr lang="en-US" sz="2400" dirty="0"/>
              <a:t>Train a Transformer model on English–Hindi dataset</a:t>
            </a:r>
          </a:p>
          <a:p>
            <a:r>
              <a:rPr lang="en-US" sz="2400" dirty="0"/>
              <a:t>Translate extracted English sentences into Hindi</a:t>
            </a:r>
          </a:p>
          <a:p>
            <a:r>
              <a:rPr lang="en-US" sz="2400" dirty="0"/>
              <a:t>Build a complete end-to-end pipeline from image to translated text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u="sng" dirty="0"/>
              <a:t>System Architecture</a:t>
            </a:r>
          </a:p>
          <a:p>
            <a:pPr marL="0" indent="0">
              <a:buNone/>
            </a:pPr>
            <a:endParaRPr lang="en-IN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20009-06F6-5FD5-C783-1902A45F1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2313941"/>
            <a:ext cx="664937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C616-BDE8-703A-6252-80BCA323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CA1D-B2CB-F61A-1D93-DC6D78C7A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Image Preprocessing</a:t>
            </a:r>
          </a:p>
          <a:p>
            <a:r>
              <a:rPr lang="en-US" sz="2400" dirty="0"/>
              <a:t>Grayscale conversion</a:t>
            </a:r>
          </a:p>
          <a:p>
            <a:r>
              <a:rPr lang="en-US" sz="2400" dirty="0"/>
              <a:t>Noise removal</a:t>
            </a:r>
          </a:p>
          <a:p>
            <a:r>
              <a:rPr lang="en-US" sz="2400" dirty="0"/>
              <a:t>Thresholding</a:t>
            </a:r>
          </a:p>
          <a:p>
            <a:r>
              <a:rPr lang="en-US" sz="2400" dirty="0"/>
              <a:t>Image sharpening</a:t>
            </a:r>
          </a:p>
          <a:p>
            <a:pPr marL="0" indent="0">
              <a:buNone/>
            </a:pPr>
            <a:r>
              <a:rPr lang="en-US" sz="2400" b="1" dirty="0"/>
              <a:t>OCR Extraction</a:t>
            </a:r>
          </a:p>
          <a:p>
            <a:r>
              <a:rPr lang="en-US" sz="2400" dirty="0"/>
              <a:t>Detect characters</a:t>
            </a:r>
          </a:p>
          <a:p>
            <a:r>
              <a:rPr lang="en-US" sz="2400" dirty="0"/>
              <a:t>Recognize words</a:t>
            </a:r>
          </a:p>
          <a:p>
            <a:r>
              <a:rPr lang="en-US" sz="2400" dirty="0"/>
              <a:t>Convert image text to digital English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98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5019-A85B-5772-6527-6336B714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3F174-CEC8-40B5-3DFC-C05DE8643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/>
              <a:t>Transformer Architecture Components</a:t>
            </a:r>
          </a:p>
          <a:p>
            <a:r>
              <a:rPr lang="en-IN" sz="2600" dirty="0"/>
              <a:t>Encoder</a:t>
            </a:r>
          </a:p>
          <a:p>
            <a:r>
              <a:rPr lang="en-IN" sz="2600" dirty="0"/>
              <a:t>Decoder</a:t>
            </a:r>
          </a:p>
          <a:p>
            <a:r>
              <a:rPr lang="en-IN" sz="2600" dirty="0"/>
              <a:t>Attention Mechanism</a:t>
            </a:r>
          </a:p>
          <a:p>
            <a:pPr marL="0" indent="0">
              <a:buNone/>
            </a:pPr>
            <a:r>
              <a:rPr lang="en-IN" sz="2600" b="1" dirty="0"/>
              <a:t>Working</a:t>
            </a:r>
          </a:p>
          <a:p>
            <a:pPr marL="0" indent="0">
              <a:buNone/>
            </a:pPr>
            <a:r>
              <a:rPr lang="en-IN" sz="2600" dirty="0"/>
              <a:t>Encoder:</a:t>
            </a:r>
          </a:p>
          <a:p>
            <a:r>
              <a:rPr lang="en-IN" sz="2600" dirty="0"/>
              <a:t>Reads English sentence</a:t>
            </a:r>
          </a:p>
          <a:p>
            <a:r>
              <a:rPr lang="en-IN" sz="2600" dirty="0"/>
              <a:t>Understands context</a:t>
            </a:r>
          </a:p>
          <a:p>
            <a:pPr marL="0" indent="0">
              <a:buNone/>
            </a:pPr>
            <a:r>
              <a:rPr lang="en-IN" sz="2600" dirty="0"/>
              <a:t>Decoder:</a:t>
            </a:r>
          </a:p>
          <a:p>
            <a:r>
              <a:rPr lang="en-IN" sz="2600" dirty="0"/>
              <a:t>Generates Hindi sentence word-by-word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81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5D98-0C95-3F13-7DF9-F1FC353B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354DA-9A67-C01C-4D83-0C3446FB5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Translation Process</a:t>
            </a:r>
          </a:p>
          <a:p>
            <a:r>
              <a:rPr lang="en-US" sz="2400" dirty="0"/>
              <a:t>Tokenization of English sentence</a:t>
            </a:r>
          </a:p>
          <a:p>
            <a:r>
              <a:rPr lang="en-US" sz="2400" dirty="0"/>
              <a:t>Embedding generation</a:t>
            </a:r>
          </a:p>
          <a:p>
            <a:r>
              <a:rPr lang="en-US" sz="2400" dirty="0"/>
              <a:t>Attention calculation</a:t>
            </a:r>
          </a:p>
          <a:p>
            <a:r>
              <a:rPr lang="en-US" sz="2400" dirty="0"/>
              <a:t>Hindi sentence prediction</a:t>
            </a:r>
          </a:p>
          <a:p>
            <a:pPr marL="0" indent="0">
              <a:buNone/>
            </a:pPr>
            <a:r>
              <a:rPr lang="en-US" sz="2400" b="1" dirty="0"/>
              <a:t>Output:</a:t>
            </a:r>
            <a:br>
              <a:rPr lang="en-US" sz="2400" dirty="0"/>
            </a:br>
            <a:r>
              <a:rPr lang="en-US" sz="2400" dirty="0"/>
              <a:t>Machine generated Hindi translation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08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Achieved So Far</a:t>
            </a:r>
          </a:p>
          <a:p>
            <a:r>
              <a:rPr lang="en-US" sz="2400" dirty="0"/>
              <a:t>Transformer model successfully trained</a:t>
            </a:r>
          </a:p>
          <a:p>
            <a:r>
              <a:rPr lang="en-US" sz="2400" dirty="0"/>
              <a:t>Model translates English input sentences into Hindi</a:t>
            </a:r>
          </a:p>
          <a:p>
            <a:r>
              <a:rPr lang="en-US" sz="2400" dirty="0"/>
              <a:t>Producing grammatically correct Hindi outputs for simple sentences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F577-3219-8384-A825-962BC7F5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Loss and Perplexity 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49581B-1C73-92C3-10DF-16E2C0F63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62" y="1868133"/>
            <a:ext cx="5187707" cy="4148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0E53E-4266-2582-CA21-62E04B204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207" y="1868133"/>
            <a:ext cx="5227331" cy="414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62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FEE6-25AA-6D14-1308-A47A4D20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78AC2-8E0C-6062-04E8-EE68B3228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32" y="232624"/>
            <a:ext cx="8343900" cy="971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37AED-2234-2FE8-BFB9-6C05DD758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7" y="5479587"/>
            <a:ext cx="8343897" cy="1104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797CA6-C7D3-5ED9-1BC1-2EA522CCCD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8" y="4784262"/>
            <a:ext cx="8343898" cy="695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CC1FF9-D6CF-DE1E-A1A5-2A3481EB8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8" y="4072973"/>
            <a:ext cx="8343900" cy="742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938AE9-26D9-A6C1-8023-66DA79B408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8" y="3311696"/>
            <a:ext cx="8336584" cy="7905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18BDF4-19EE-AB53-B8C9-C331D3642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7" y="2569125"/>
            <a:ext cx="8343899" cy="7715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C9811C-7910-4BA0-A9CA-88E1C69E4A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32" y="1877230"/>
            <a:ext cx="8343900" cy="752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9C957E-5934-4510-EE41-5A915CA651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8" y="1204174"/>
            <a:ext cx="8343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5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Future Work:</a:t>
            </a:r>
          </a:p>
          <a:p>
            <a:r>
              <a:rPr lang="en-US" sz="2400" dirty="0"/>
              <a:t>Integrate OCR with translation</a:t>
            </a:r>
          </a:p>
          <a:p>
            <a:r>
              <a:rPr lang="en-US" sz="2400" dirty="0"/>
              <a:t>Complete image-to-Hindi pipeline</a:t>
            </a:r>
          </a:p>
          <a:p>
            <a:r>
              <a:rPr lang="en-US" sz="2400" dirty="0"/>
              <a:t>Improve translation accuracy</a:t>
            </a:r>
          </a:p>
          <a:p>
            <a:r>
              <a:rPr lang="en-US" sz="2400" dirty="0"/>
              <a:t>Create a user interface</a:t>
            </a:r>
          </a:p>
          <a:p>
            <a:pPr marL="0" indent="0">
              <a:buNone/>
            </a:pPr>
            <a:r>
              <a:rPr lang="en-US" sz="2400" b="1" dirty="0"/>
              <a:t>Expected Outcomes</a:t>
            </a:r>
          </a:p>
          <a:p>
            <a:r>
              <a:rPr lang="en-US" sz="2400" dirty="0"/>
              <a:t>Research Paper (Drafted)</a:t>
            </a:r>
          </a:p>
          <a:p>
            <a:r>
              <a:rPr lang="en-US" sz="2400" dirty="0"/>
              <a:t>Real-time deployment (Partially completed)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&lt;One slide&gt;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436</Words>
  <Application>Microsoft Office PowerPoint</Application>
  <PresentationFormat>Widescreen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English Text Extraction using OCR and Translation to Hindi using Transformer Mode</vt:lpstr>
      <vt:lpstr>Outline</vt:lpstr>
      <vt:lpstr>Introduction</vt:lpstr>
      <vt:lpstr>PowerPoint Presentation</vt:lpstr>
      <vt:lpstr>Literature Review</vt:lpstr>
      <vt:lpstr>PowerPoint Presentation</vt:lpstr>
      <vt:lpstr>Problem Statement</vt:lpstr>
      <vt:lpstr>Objectives</vt:lpstr>
      <vt:lpstr>Proposed Methodology</vt:lpstr>
      <vt:lpstr>PowerPoint Presentation</vt:lpstr>
      <vt:lpstr>PowerPoint Presentation</vt:lpstr>
      <vt:lpstr>PowerPoint Presentation</vt:lpstr>
      <vt:lpstr>Result </vt:lpstr>
      <vt:lpstr>Loss and Perplexity Graphs</vt:lpstr>
      <vt:lpstr>PowerPoint Presentation</vt:lpstr>
      <vt:lpstr>Outcome and Future Work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Shlok Mishra</cp:lastModifiedBy>
  <cp:revision>9</cp:revision>
  <dcterms:created xsi:type="dcterms:W3CDTF">2025-09-29T05:03:41Z</dcterms:created>
  <dcterms:modified xsi:type="dcterms:W3CDTF">2026-02-15T07:56:04Z</dcterms:modified>
</cp:coreProperties>
</file>