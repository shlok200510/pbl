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68" r:id="rId5"/>
    <p:sldId id="275" r:id="rId6"/>
    <p:sldId id="259" r:id="rId7"/>
    <p:sldId id="269" r:id="rId8"/>
    <p:sldId id="260" r:id="rId9"/>
    <p:sldId id="262" r:id="rId10"/>
    <p:sldId id="261" r:id="rId11"/>
    <p:sldId id="270" r:id="rId12"/>
    <p:sldId id="271" r:id="rId13"/>
    <p:sldId id="272" r:id="rId14"/>
    <p:sldId id="266" r:id="rId15"/>
    <p:sldId id="273" r:id="rId16"/>
    <p:sldId id="274" r:id="rId17"/>
    <p:sldId id="267" r:id="rId18"/>
    <p:sldId id="263" r:id="rId19"/>
    <p:sldId id="264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2EB77A-8C08-4BE1-8E4D-C8FC48DE705E}" v="1" dt="2026-02-15T09:56:09.04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lok Mishra" userId="f39131b2fa7ce376" providerId="LiveId" clId="{1A2952F3-5A5C-45FF-AD89-A4092F607D3B}"/>
    <pc:docChg chg="custSel addSld modSld">
      <pc:chgData name="Shlok Mishra" userId="f39131b2fa7ce376" providerId="LiveId" clId="{1A2952F3-5A5C-45FF-AD89-A4092F607D3B}" dt="2026-02-15T09:56:27.997" v="13" actId="14100"/>
      <pc:docMkLst>
        <pc:docMk/>
      </pc:docMkLst>
      <pc:sldChg chg="modSp mod">
        <pc:chgData name="Shlok Mishra" userId="f39131b2fa7ce376" providerId="LiveId" clId="{1A2952F3-5A5C-45FF-AD89-A4092F607D3B}" dt="2026-02-15T09:55:52.062" v="5" actId="1076"/>
        <pc:sldMkLst>
          <pc:docMk/>
          <pc:sldMk cId="1077724860" sldId="261"/>
        </pc:sldMkLst>
        <pc:spChg chg="mod">
          <ac:chgData name="Shlok Mishra" userId="f39131b2fa7ce376" providerId="LiveId" clId="{1A2952F3-5A5C-45FF-AD89-A4092F607D3B}" dt="2026-02-15T09:55:47.943" v="4" actId="1076"/>
          <ac:spMkLst>
            <pc:docMk/>
            <pc:sldMk cId="1077724860" sldId="261"/>
            <ac:spMk id="2" creationId="{EAC2C796-D371-7EE6-056A-4956DC25840D}"/>
          </ac:spMkLst>
        </pc:spChg>
        <pc:spChg chg="mod">
          <ac:chgData name="Shlok Mishra" userId="f39131b2fa7ce376" providerId="LiveId" clId="{1A2952F3-5A5C-45FF-AD89-A4092F607D3B}" dt="2026-02-15T09:55:34.015" v="0" actId="20577"/>
          <ac:spMkLst>
            <pc:docMk/>
            <pc:sldMk cId="1077724860" sldId="261"/>
            <ac:spMk id="3" creationId="{F7E7EF98-E6AD-70D5-2BE9-3A859F15DFF4}"/>
          </ac:spMkLst>
        </pc:spChg>
        <pc:picChg chg="mod">
          <ac:chgData name="Shlok Mishra" userId="f39131b2fa7ce376" providerId="LiveId" clId="{1A2952F3-5A5C-45FF-AD89-A4092F607D3B}" dt="2026-02-15T09:55:52.062" v="5" actId="1076"/>
          <ac:picMkLst>
            <pc:docMk/>
            <pc:sldMk cId="1077724860" sldId="261"/>
            <ac:picMk id="5" creationId="{88020009-06F6-5FD5-C783-1902A45F1580}"/>
          </ac:picMkLst>
        </pc:picChg>
      </pc:sldChg>
      <pc:sldChg chg="delSp mod">
        <pc:chgData name="Shlok Mishra" userId="f39131b2fa7ce376" providerId="LiveId" clId="{1A2952F3-5A5C-45FF-AD89-A4092F607D3B}" dt="2026-02-15T09:56:03.011" v="6" actId="21"/>
        <pc:sldMkLst>
          <pc:docMk/>
          <pc:sldMk cId="2065781088" sldId="268"/>
        </pc:sldMkLst>
        <pc:picChg chg="del">
          <ac:chgData name="Shlok Mishra" userId="f39131b2fa7ce376" providerId="LiveId" clId="{1A2952F3-5A5C-45FF-AD89-A4092F607D3B}" dt="2026-02-15T09:56:03.011" v="6" actId="21"/>
          <ac:picMkLst>
            <pc:docMk/>
            <pc:sldMk cId="2065781088" sldId="268"/>
            <ac:picMk id="5" creationId="{0B1CDB59-5FCD-CEE6-F6C9-53C70152DF58}"/>
          </ac:picMkLst>
        </pc:picChg>
      </pc:sldChg>
      <pc:sldChg chg="addSp delSp modSp new mod">
        <pc:chgData name="Shlok Mishra" userId="f39131b2fa7ce376" providerId="LiveId" clId="{1A2952F3-5A5C-45FF-AD89-A4092F607D3B}" dt="2026-02-15T09:56:27.997" v="13" actId="14100"/>
        <pc:sldMkLst>
          <pc:docMk/>
          <pc:sldMk cId="998812809" sldId="275"/>
        </pc:sldMkLst>
        <pc:spChg chg="del">
          <ac:chgData name="Shlok Mishra" userId="f39131b2fa7ce376" providerId="LiveId" clId="{1A2952F3-5A5C-45FF-AD89-A4092F607D3B}" dt="2026-02-15T09:56:09.041" v="8"/>
          <ac:spMkLst>
            <pc:docMk/>
            <pc:sldMk cId="998812809" sldId="275"/>
            <ac:spMk id="3" creationId="{7AAFF354-1BA1-8B16-A790-2E2ADED8FD80}"/>
          </ac:spMkLst>
        </pc:spChg>
        <pc:picChg chg="add mod">
          <ac:chgData name="Shlok Mishra" userId="f39131b2fa7ce376" providerId="LiveId" clId="{1A2952F3-5A5C-45FF-AD89-A4092F607D3B}" dt="2026-02-15T09:56:27.997" v="13" actId="14100"/>
          <ac:picMkLst>
            <pc:docMk/>
            <pc:sldMk cId="998812809" sldId="275"/>
            <ac:picMk id="5" creationId="{0B1CDB59-5FCD-CEE6-F6C9-53C70152DF5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A4878C-C09C-4E62-B776-3DE791D8B412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83E88C-5F34-4F91-AF49-72987AC9F2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99831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83E88C-5F34-4F91-AF49-72987AC9F2E4}" type="slidenum">
              <a:rPr lang="en-IN" smtClean="0"/>
              <a:t>16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660043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7369E-1D01-4E18-A41B-972E5282A52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D7ACB01-ADDD-13C8-7D78-4FD47D1E316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C7438D-EA18-361E-D59E-153377263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0E2FD9-74C2-C9B0-1BDC-57B92DCB66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E74D17-63FA-E32E-A58E-466459435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500813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BA9A7-DC78-3CB3-7F00-929E421E9B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F4783-8B8F-B836-F68D-81BDF16A16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FE82BE-60AE-D797-7868-81B8EF463D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DD90722-9270-7EDB-981C-B923AA08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9E6731-DBE6-4F74-E2CF-7659DBC87C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092427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B8AFF-E64A-AF8D-BBC2-E5AB945B44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ACB9A4-3B4F-7FE6-9B28-F5EF72B257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CA73C0-5E6E-B28A-6C22-06D9AC4726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49FA3B-4073-0F86-8AC8-81E0E4C3EB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EF5269F-612E-B784-B48A-95AA079107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10243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3D166B-106E-C76B-9CE8-1B9A4AE5C7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43AF0E-E8F2-1B19-B65C-0E1CC0813A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CFFB13-732B-DEF8-DBEC-5F73E2395F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A273C03-C9D7-F051-B57E-8DA06873D4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5D1B14-3A56-41BB-4E4A-4735998ADA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4854A9C-028F-0B55-463A-1087581A98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9032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A166EC-9430-6B3D-E0CE-0A71B38A96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1E26AD1-F80A-C09B-B640-E65D99E68F0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0C293B4-0027-A04C-BA3E-441C93A1D8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A4E42C3-BCA9-FB95-D8DC-7F3044ADD36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C8EFB4-7BB2-F8E3-21FC-7E4A10DFD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B1C773-744A-FCD3-C078-3DC992C32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5F26583-570F-F397-D583-9963BD0D01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3F8FC52-BDE3-9E21-7004-9001CC624A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87644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D917DB-BC11-A965-7D47-A83062720E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559EBB-66AC-0A22-FB25-AA24D18829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F21C889-A42D-7ECD-6189-48F6199C52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3D6C85-1A5C-85A2-D47F-73050C49CB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207323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E56DA96-DA53-0AED-0F58-E803782E31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28408AC-42F9-A3E6-20C6-19B6AFB04F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79749-EC75-7164-FBE8-61C5FD9519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2355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BE5F6-B24D-5E61-DC38-DA3F87B34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B0E6B7-31E9-4177-5C1F-03A7DBD36C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6910E19-657E-B541-E036-959BA41875C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A2AEC1-909F-60C3-702B-6244A8A7D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9E9E6BA-2E7B-3E57-2F0C-5F2FD171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9B71D75-64B2-1389-FADB-ED9520B8A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7443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F1262D-CF25-FD3A-5B0C-AFA7F0A7D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C1E524-18D7-464E-3F34-14CBF4862EA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712348-99C4-F005-5D92-24A299F993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DC898F6-D595-1FDE-2158-79E6686C82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E67F9F-625D-1107-9BCE-138B29817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DC0215-9ED1-CB53-652D-46D93AD26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700344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EDE86-64B7-9F0A-5001-6F43A0FA6B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237D706-8AAA-2524-04BB-26C4624206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18E778-061C-459E-CD0C-58DCA0CF7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AFE4EF-7849-CFF9-1385-7BDB42DF62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DA96F9-D0E3-05A9-C32F-CCFCFCE6E6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91194864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34D04E30-06E1-5212-4B6D-25886B9C37F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1C275C-3D2D-2452-9149-89BBE7CA689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C131ED-A5B2-3FF2-8E5C-283664ABEB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1C8846-9586-A23A-3D98-740B85ED21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D27319-B31F-9567-7E64-8BEAB1A3C6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47698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B279A75-0843-3E26-FA3D-7955B436DA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FA1EE1-247A-E887-762B-4BC2DBFD35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3DF53D-E00E-7D7F-402F-506A960A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FACB4A-C46D-47C8-95BF-463F9F428625}" type="datetimeFigureOut">
              <a:rPr lang="en-IN" smtClean="0"/>
              <a:t>15-02-2026</a:t>
            </a:fld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B7DC96-5252-D529-FF28-16B0D99D0D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6F4C6E2-66C6-AF10-CC28-03DE3A9BB6B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2EA575-0560-4EBC-AD65-A546BB5C467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71529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jpeg"/><Relationship Id="rId3" Type="http://schemas.openxmlformats.org/officeDocument/2006/relationships/image" Target="../media/image6.jpeg"/><Relationship Id="rId7" Type="http://schemas.openxmlformats.org/officeDocument/2006/relationships/image" Target="../media/image10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jpeg"/><Relationship Id="rId5" Type="http://schemas.openxmlformats.org/officeDocument/2006/relationships/image" Target="../media/image8.jpeg"/><Relationship Id="rId10" Type="http://schemas.openxmlformats.org/officeDocument/2006/relationships/image" Target="../media/image13.jpeg"/><Relationship Id="rId4" Type="http://schemas.openxmlformats.org/officeDocument/2006/relationships/image" Target="../media/image7.jpeg"/><Relationship Id="rId9" Type="http://schemas.openxmlformats.org/officeDocument/2006/relationships/image" Target="../media/image12.jpe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4FB14B-13FD-63D0-B558-FA2B9FA1B8F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3771609"/>
            <a:ext cx="9144000" cy="978194"/>
          </a:xfrm>
        </p:spPr>
        <p:txBody>
          <a:bodyPr>
            <a:normAutofit fontScale="90000"/>
          </a:bodyPr>
          <a:lstStyle/>
          <a:p>
            <a:r>
              <a:rPr lang="en-US" dirty="0"/>
              <a:t>English Text Extraction using OCR and Translation to Hindi using Transformer Mode</a:t>
            </a: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3DAA6DE-3B6C-1A2F-6135-52EEA7D1650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077411" y="4890977"/>
            <a:ext cx="3239387" cy="1222744"/>
          </a:xfrm>
        </p:spPr>
        <p:txBody>
          <a:bodyPr/>
          <a:lstStyle/>
          <a:p>
            <a:r>
              <a:rPr lang="en-IN" dirty="0"/>
              <a:t>Submitted By:</a:t>
            </a:r>
            <a:br>
              <a:rPr lang="en-IN" dirty="0"/>
            </a:br>
            <a:r>
              <a:rPr lang="en-IN" dirty="0"/>
              <a:t>Shlok Mishra</a:t>
            </a:r>
          </a:p>
          <a:p>
            <a:r>
              <a:rPr lang="en-IN" dirty="0"/>
              <a:t>23FE10CSE00492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8265C3A1-7DE8-FF2B-D7D7-6CB2859C63C2}"/>
              </a:ext>
            </a:extLst>
          </p:cNvPr>
          <p:cNvSpPr txBox="1">
            <a:spLocks/>
          </p:cNvSpPr>
          <p:nvPr/>
        </p:nvSpPr>
        <p:spPr>
          <a:xfrm>
            <a:off x="7875203" y="4883885"/>
            <a:ext cx="3239386" cy="122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IN" dirty="0"/>
              <a:t>Supervised By:</a:t>
            </a:r>
            <a:br>
              <a:rPr lang="en-IN" dirty="0"/>
            </a:br>
            <a:r>
              <a:rPr lang="en-IN" dirty="0"/>
              <a:t>Dr Ridhi Arora</a:t>
            </a:r>
          </a:p>
          <a:p>
            <a:endParaRPr lang="en-IN" dirty="0"/>
          </a:p>
        </p:txBody>
      </p:sp>
      <p:pic>
        <p:nvPicPr>
          <p:cNvPr id="8" name="Picture 7" descr="A black and white text&#10;&#10;AI-generated content may be incorrect.">
            <a:extLst>
              <a:ext uri="{FF2B5EF4-FFF2-40B4-BE49-F238E27FC236}">
                <a16:creationId xmlns:a16="http://schemas.microsoft.com/office/drawing/2014/main" id="{2AD7126F-2B55-B457-37C9-C05FFDD4D2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756" y="36039"/>
            <a:ext cx="4174039" cy="1222745"/>
          </a:xfrm>
          <a:prstGeom prst="rect">
            <a:avLst/>
          </a:prstGeom>
        </p:spPr>
      </p:pic>
      <p:sp>
        <p:nvSpPr>
          <p:cNvPr id="9" name="Title 1">
            <a:extLst>
              <a:ext uri="{FF2B5EF4-FFF2-40B4-BE49-F238E27FC236}">
                <a16:creationId xmlns:a16="http://schemas.microsoft.com/office/drawing/2014/main" id="{B8466A34-BD34-5DB1-EC2B-14EE0BD5593C}"/>
              </a:ext>
            </a:extLst>
          </p:cNvPr>
          <p:cNvSpPr txBox="1">
            <a:spLocks/>
          </p:cNvSpPr>
          <p:nvPr/>
        </p:nvSpPr>
        <p:spPr>
          <a:xfrm>
            <a:off x="1524000" y="1082321"/>
            <a:ext cx="9144000" cy="1112276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92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50000"/>
              </a:lnSpc>
            </a:pPr>
            <a:r>
              <a:rPr lang="en-IN" sz="2800" b="1" dirty="0"/>
              <a:t>School of Computer Science and Engineering</a:t>
            </a:r>
          </a:p>
          <a:p>
            <a:pPr>
              <a:lnSpc>
                <a:spcPct val="150000"/>
              </a:lnSpc>
            </a:pPr>
            <a:r>
              <a:rPr lang="en-IN" sz="2800" b="1" dirty="0"/>
              <a:t>Department of Computer Science and Engineering</a:t>
            </a:r>
          </a:p>
        </p:txBody>
      </p:sp>
    </p:spTree>
    <p:extLst>
      <p:ext uri="{BB962C8B-B14F-4D97-AF65-F5344CB8AC3E}">
        <p14:creationId xmlns:p14="http://schemas.microsoft.com/office/powerpoint/2010/main" val="380237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B61AEC-0C6A-CF04-A6F2-DE04262551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86A8CF-2937-6FE2-6F8A-377D2DF1D6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Introduction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Literature Review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Problem Statement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Proposed Solution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Objectives</a:t>
            </a:r>
          </a:p>
          <a:p>
            <a:pPr>
              <a:buFont typeface="Wingdings" panose="05000000000000000000" pitchFamily="2" charset="2"/>
              <a:buChar char="v"/>
            </a:pPr>
            <a:r>
              <a:rPr lang="en-IN" dirty="0"/>
              <a:t>Results</a:t>
            </a:r>
          </a:p>
          <a:p>
            <a:pPr>
              <a:buFont typeface="Wingdings" panose="05000000000000000000" pitchFamily="2" charset="2"/>
              <a:buChar char="v"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4047219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25A96B-B72E-0C72-F61B-C99183D10D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Introduction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31CBD1-1236-BD10-F9B4-E2675BA38E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25000" lnSpcReduction="20000"/>
          </a:bodyPr>
          <a:lstStyle/>
          <a:p>
            <a:r>
              <a:rPr lang="en-US" sz="9600" b="1" dirty="0"/>
              <a:t>Background</a:t>
            </a:r>
          </a:p>
          <a:p>
            <a:r>
              <a:rPr lang="en-US" sz="9600" dirty="0"/>
              <a:t>Many documents in India are available in </a:t>
            </a:r>
            <a:r>
              <a:rPr lang="en-US" sz="9600" b="1" dirty="0"/>
              <a:t>English language only</a:t>
            </a:r>
            <a:endParaRPr lang="en-US" sz="9600" dirty="0"/>
          </a:p>
          <a:p>
            <a:r>
              <a:rPr lang="en-US" sz="9600" dirty="0"/>
              <a:t>A large population prefers </a:t>
            </a:r>
            <a:r>
              <a:rPr lang="en-US" sz="9600" b="1" dirty="0"/>
              <a:t>Hindi for better understanding</a:t>
            </a:r>
            <a:endParaRPr lang="en-US" sz="9600" dirty="0"/>
          </a:p>
          <a:p>
            <a:r>
              <a:rPr lang="en-US" sz="9600" dirty="0"/>
              <a:t>Manual translation of scanned documents is time-consuming</a:t>
            </a:r>
          </a:p>
          <a:p>
            <a:r>
              <a:rPr lang="en-US" sz="9600" dirty="0"/>
              <a:t>Important sectors affected:</a:t>
            </a:r>
          </a:p>
          <a:p>
            <a:pPr lvl="1"/>
            <a:r>
              <a:rPr lang="en-US" sz="9600" dirty="0"/>
              <a:t>Government forms</a:t>
            </a:r>
          </a:p>
          <a:p>
            <a:pPr lvl="1"/>
            <a:r>
              <a:rPr lang="en-US" sz="9600" dirty="0"/>
              <a:t>Medical prescriptions</a:t>
            </a:r>
          </a:p>
          <a:p>
            <a:pPr lvl="1"/>
            <a:r>
              <a:rPr lang="en-US" sz="9600" dirty="0"/>
              <a:t>Educational material</a:t>
            </a:r>
          </a:p>
          <a:p>
            <a:pPr lvl="1"/>
            <a:r>
              <a:rPr lang="en-US" sz="9600" dirty="0"/>
              <a:t>Historical records</a:t>
            </a:r>
          </a:p>
          <a:p>
            <a:r>
              <a:rPr lang="en-US" sz="9600" b="1" dirty="0"/>
              <a:t>Key Technologies Used</a:t>
            </a:r>
          </a:p>
          <a:p>
            <a:r>
              <a:rPr lang="en-US" sz="9600" dirty="0"/>
              <a:t>Optical Character Recognition (OCR)</a:t>
            </a:r>
          </a:p>
          <a:p>
            <a:r>
              <a:rPr lang="en-US" sz="9600" dirty="0"/>
              <a:t>Natural Language Processing (NLP)</a:t>
            </a:r>
          </a:p>
          <a:p>
            <a:r>
              <a:rPr lang="en-US" sz="9600" dirty="0"/>
              <a:t>Transformer Neural Networks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7897659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D1AE6C-A2FF-B583-B1DA-F7C37C132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30F8E3-EC53-4FAE-AE7B-A2452DFC59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b="1" dirty="0"/>
              <a:t>What is OCR?</a:t>
            </a:r>
          </a:p>
          <a:p>
            <a:r>
              <a:rPr lang="en-US" sz="2400" dirty="0"/>
              <a:t>Optical Character Recognition (OCR) is a computer vision technique used to detect and convert text from images, scanned documents, or photographs into machine-readable text.</a:t>
            </a:r>
          </a:p>
          <a:p>
            <a:r>
              <a:rPr lang="en-US" sz="2400" b="1" dirty="0"/>
              <a:t>What is Machine Translation?</a:t>
            </a:r>
          </a:p>
          <a:p>
            <a:r>
              <a:rPr lang="en-US" sz="2400" dirty="0"/>
              <a:t>Machine Translation is an NLP task where a computer automatically converts text from one language to another.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6578108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19C58-9282-1A49-EC7B-EAB6DDBBA1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B1CDB59-5FCD-CEE6-F6C9-53C70152DF5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988128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85647D-9B85-4135-FDC8-4412998CA2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Literature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5F665-7E3B-0A75-0EE5-8FA0D35D26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indent="0">
              <a:buNone/>
            </a:pPr>
            <a:r>
              <a:rPr lang="en-IN" sz="2400" b="1" dirty="0"/>
              <a:t>Optical Character Recognition</a:t>
            </a:r>
          </a:p>
          <a:p>
            <a:r>
              <a:rPr lang="en-IN" sz="2400" dirty="0"/>
              <a:t>Early OCR used pattern matching and template matching</a:t>
            </a:r>
          </a:p>
          <a:p>
            <a:r>
              <a:rPr lang="en-IN" sz="2400" dirty="0"/>
              <a:t>Modern OCR uses deep learning and convolutional neural networks</a:t>
            </a:r>
          </a:p>
          <a:p>
            <a:r>
              <a:rPr lang="en-IN" sz="2400" dirty="0"/>
              <a:t>Popular tools:</a:t>
            </a:r>
          </a:p>
          <a:p>
            <a:pPr lvl="1"/>
            <a:r>
              <a:rPr lang="en-IN" dirty="0"/>
              <a:t>Tesseract OCR</a:t>
            </a:r>
          </a:p>
          <a:p>
            <a:pPr lvl="1"/>
            <a:r>
              <a:rPr lang="en-IN" dirty="0"/>
              <a:t>Google Vision OCR</a:t>
            </a:r>
          </a:p>
          <a:p>
            <a:pPr marL="0" indent="0">
              <a:buNone/>
            </a:pPr>
            <a:r>
              <a:rPr lang="en-IN" sz="2400" b="1" dirty="0"/>
              <a:t>Research Observations</a:t>
            </a:r>
          </a:p>
          <a:p>
            <a:r>
              <a:rPr lang="en-IN" sz="2400" dirty="0"/>
              <a:t>OCR accuracy depends on:</a:t>
            </a:r>
          </a:p>
          <a:p>
            <a:pPr lvl="1"/>
            <a:r>
              <a:rPr lang="en-IN" dirty="0"/>
              <a:t>Image quality</a:t>
            </a:r>
          </a:p>
          <a:p>
            <a:pPr lvl="1"/>
            <a:r>
              <a:rPr lang="en-IN" dirty="0"/>
              <a:t>Lighting</a:t>
            </a:r>
          </a:p>
          <a:p>
            <a:pPr lvl="1"/>
            <a:r>
              <a:rPr lang="en-IN" dirty="0"/>
              <a:t>Font style</a:t>
            </a:r>
          </a:p>
          <a:p>
            <a:pPr lvl="1"/>
            <a:r>
              <a:rPr lang="en-IN" dirty="0"/>
              <a:t>Noise in image</a:t>
            </a:r>
          </a:p>
        </p:txBody>
      </p:sp>
    </p:spTree>
    <p:extLst>
      <p:ext uri="{BB962C8B-B14F-4D97-AF65-F5344CB8AC3E}">
        <p14:creationId xmlns:p14="http://schemas.microsoft.com/office/powerpoint/2010/main" val="3103081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D6B6D0-4A9F-FE62-FD40-0AD5885D9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8F18C-1EBE-4C31-C5FE-2D4721589C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Transformer Models</a:t>
            </a:r>
          </a:p>
          <a:p>
            <a:r>
              <a:rPr lang="en-US" sz="2400" dirty="0"/>
              <a:t>Introduced in 2017 (Attention Is All You Need)</a:t>
            </a:r>
          </a:p>
          <a:p>
            <a:r>
              <a:rPr lang="en-US" sz="2400" dirty="0"/>
              <a:t>Uses </a:t>
            </a:r>
            <a:r>
              <a:rPr lang="en-US" sz="2400" b="1" dirty="0"/>
              <a:t>self-attention mechanism</a:t>
            </a:r>
            <a:endParaRPr lang="en-US" sz="2400" dirty="0"/>
          </a:p>
          <a:p>
            <a:r>
              <a:rPr lang="en-US" sz="2400" dirty="0"/>
              <a:t>Handles long sentences efficiently</a:t>
            </a:r>
          </a:p>
          <a:p>
            <a:r>
              <a:rPr lang="en-US" sz="2400" dirty="0"/>
              <a:t>Currently state-of-the-art in language translation</a:t>
            </a:r>
          </a:p>
          <a:p>
            <a:pPr marL="0" indent="0">
              <a:buNone/>
            </a:pPr>
            <a:r>
              <a:rPr lang="en-US" sz="2400" dirty="0"/>
              <a:t>Advantages:</a:t>
            </a:r>
          </a:p>
          <a:p>
            <a:r>
              <a:rPr lang="en-US" sz="2400" dirty="0"/>
              <a:t>Better grammar understanding</a:t>
            </a:r>
          </a:p>
          <a:p>
            <a:r>
              <a:rPr lang="en-US" sz="2400" dirty="0"/>
              <a:t>Context aware translation</a:t>
            </a:r>
          </a:p>
          <a:p>
            <a:r>
              <a:rPr lang="en-US" sz="2400" dirty="0"/>
              <a:t>Parallel processing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0983798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EA1533-4BE1-DF5E-D485-BD167C2BD8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Problem Statement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024CC5-00AF-876C-F7CA-146754384C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/>
              <a:t>To develop an automated system that extracts English text from images and accurately translates it into Hindi using a Transformer-based Neural Machine Translation model.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23747078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C66CBD-FC59-BE59-2070-B5315E2C89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3E25AA-71BA-D0F6-3993-32491BD06D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 dirty="0"/>
              <a:t>Extract English text from images using OCR</a:t>
            </a:r>
          </a:p>
          <a:p>
            <a:r>
              <a:rPr lang="en-US" sz="2400" dirty="0"/>
              <a:t>Train a Transformer model on English–Hindi dataset</a:t>
            </a:r>
          </a:p>
          <a:p>
            <a:r>
              <a:rPr lang="en-US" sz="2400" dirty="0"/>
              <a:t>Translate extracted English sentences into Hindi</a:t>
            </a:r>
          </a:p>
          <a:p>
            <a:r>
              <a:rPr lang="en-US" sz="2400" dirty="0"/>
              <a:t>Build a complete end-to-end pipeline from image to translated text</a:t>
            </a:r>
            <a:endParaRPr lang="en-IN" sz="2400" dirty="0"/>
          </a:p>
        </p:txBody>
      </p:sp>
    </p:spTree>
    <p:extLst>
      <p:ext uri="{BB962C8B-B14F-4D97-AF65-F5344CB8AC3E}">
        <p14:creationId xmlns:p14="http://schemas.microsoft.com/office/powerpoint/2010/main" val="35470978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2C796-D371-7EE6-056A-4956DC2584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55"/>
            <a:ext cx="10515600" cy="1325563"/>
          </a:xfrm>
        </p:spPr>
        <p:txBody>
          <a:bodyPr/>
          <a:lstStyle/>
          <a:p>
            <a:r>
              <a:rPr lang="en-IN" dirty="0"/>
              <a:t>Proposed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7EF98-E6AD-70D5-2BE9-3A859F15DF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IN" u="sn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020009-06F6-5FD5-C783-1902A45F1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4751" y="1052541"/>
            <a:ext cx="8191098" cy="55976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7724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D8C616-BDE8-703A-6252-80BCA3235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02CA1D-B2CB-F61A-1D93-DC6D78C7A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Image Preprocessing</a:t>
            </a:r>
          </a:p>
          <a:p>
            <a:r>
              <a:rPr lang="en-US" sz="2400" dirty="0"/>
              <a:t>Grayscale conversion</a:t>
            </a:r>
          </a:p>
          <a:p>
            <a:r>
              <a:rPr lang="en-US" sz="2400" dirty="0"/>
              <a:t>Noise removal</a:t>
            </a:r>
          </a:p>
          <a:p>
            <a:r>
              <a:rPr lang="en-US" sz="2400" dirty="0"/>
              <a:t>Thresholding</a:t>
            </a:r>
          </a:p>
          <a:p>
            <a:r>
              <a:rPr lang="en-US" sz="2400" dirty="0"/>
              <a:t>Image sharpening</a:t>
            </a:r>
          </a:p>
          <a:p>
            <a:pPr marL="0" indent="0">
              <a:buNone/>
            </a:pPr>
            <a:r>
              <a:rPr lang="en-US" sz="2400" b="1" dirty="0"/>
              <a:t>OCR Extraction</a:t>
            </a:r>
          </a:p>
          <a:p>
            <a:r>
              <a:rPr lang="en-US" sz="2400" dirty="0"/>
              <a:t>Detect characters</a:t>
            </a:r>
          </a:p>
          <a:p>
            <a:r>
              <a:rPr lang="en-US" sz="2400" dirty="0"/>
              <a:t>Recognize words</a:t>
            </a:r>
          </a:p>
          <a:p>
            <a:r>
              <a:rPr lang="en-US" sz="2400" dirty="0"/>
              <a:t>Convert image text to digital English text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7969841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4E5019-A85B-5772-6527-6336B71431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E3F174-CEC8-40B5-3DFC-C05DE86437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IN" sz="2600" b="1" dirty="0"/>
              <a:t>Transformer Architecture Components</a:t>
            </a:r>
          </a:p>
          <a:p>
            <a:r>
              <a:rPr lang="en-IN" sz="2600" dirty="0"/>
              <a:t>Encoder</a:t>
            </a:r>
          </a:p>
          <a:p>
            <a:r>
              <a:rPr lang="en-IN" sz="2600" dirty="0"/>
              <a:t>Decoder</a:t>
            </a:r>
          </a:p>
          <a:p>
            <a:r>
              <a:rPr lang="en-IN" sz="2600" dirty="0"/>
              <a:t>Attention Mechanism</a:t>
            </a:r>
          </a:p>
          <a:p>
            <a:pPr marL="0" indent="0">
              <a:buNone/>
            </a:pPr>
            <a:r>
              <a:rPr lang="en-IN" sz="2600" b="1" dirty="0"/>
              <a:t>Working</a:t>
            </a:r>
          </a:p>
          <a:p>
            <a:pPr marL="0" indent="0">
              <a:buNone/>
            </a:pPr>
            <a:r>
              <a:rPr lang="en-IN" sz="2600" dirty="0"/>
              <a:t>Encoder:</a:t>
            </a:r>
          </a:p>
          <a:p>
            <a:r>
              <a:rPr lang="en-IN" sz="2600" dirty="0"/>
              <a:t>Reads English sentence</a:t>
            </a:r>
          </a:p>
          <a:p>
            <a:r>
              <a:rPr lang="en-IN" sz="2600" dirty="0"/>
              <a:t>Understands context</a:t>
            </a:r>
          </a:p>
          <a:p>
            <a:pPr marL="0" indent="0">
              <a:buNone/>
            </a:pPr>
            <a:r>
              <a:rPr lang="en-IN" sz="2600" dirty="0"/>
              <a:t>Decoder:</a:t>
            </a:r>
          </a:p>
          <a:p>
            <a:r>
              <a:rPr lang="en-IN" sz="2600" dirty="0"/>
              <a:t>Generates Hindi sentence word-by-word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6808180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955D98-0C95-3F13-7DF9-F1FC353BD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0354DA-9A67-C01C-4D83-0C3446FB5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Translation Process</a:t>
            </a:r>
          </a:p>
          <a:p>
            <a:r>
              <a:rPr lang="en-US" sz="2400" dirty="0"/>
              <a:t>Tokenization of English sentence</a:t>
            </a:r>
          </a:p>
          <a:p>
            <a:r>
              <a:rPr lang="en-US" sz="2400" dirty="0"/>
              <a:t>Embedding generation</a:t>
            </a:r>
          </a:p>
          <a:p>
            <a:r>
              <a:rPr lang="en-US" sz="2400" dirty="0"/>
              <a:t>Attention calculation</a:t>
            </a:r>
          </a:p>
          <a:p>
            <a:r>
              <a:rPr lang="en-US" sz="2400" dirty="0"/>
              <a:t>Hindi sentence prediction</a:t>
            </a:r>
          </a:p>
          <a:p>
            <a:pPr marL="0" indent="0">
              <a:buNone/>
            </a:pPr>
            <a:r>
              <a:rPr lang="en-US" sz="2400" b="1" dirty="0"/>
              <a:t>Output:</a:t>
            </a:r>
            <a:br>
              <a:rPr lang="en-US" sz="2400" dirty="0"/>
            </a:br>
            <a:r>
              <a:rPr lang="en-US" sz="2400" dirty="0"/>
              <a:t>Machine generated Hindi translation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284085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7C9FAE-C685-2942-D3D4-216A6AC18B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4B33A6-B209-82E0-3AC4-ED0F2117C1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Result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7D4913-00D1-0B0F-38B7-C226FBBC33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400" b="1" dirty="0"/>
              <a:t>Achieved So Far</a:t>
            </a:r>
          </a:p>
          <a:p>
            <a:r>
              <a:rPr lang="en-US" sz="2400" dirty="0"/>
              <a:t>Transformer model successfully trained</a:t>
            </a:r>
          </a:p>
          <a:p>
            <a:r>
              <a:rPr lang="en-US" sz="2400" dirty="0"/>
              <a:t>Model translates English input sentences into Hindi</a:t>
            </a:r>
          </a:p>
          <a:p>
            <a:r>
              <a:rPr lang="en-US" sz="2400" dirty="0"/>
              <a:t>Producing grammatically correct Hindi outputs for simple sentences</a:t>
            </a:r>
          </a:p>
          <a:p>
            <a:pPr marL="0" indent="0">
              <a:buNone/>
            </a:pP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64567118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A9F577-3219-8384-A825-962BC7F5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Loss and Perplexity Graphs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049581B-1C73-92C3-10DF-16E2C0F631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1462" y="1868133"/>
            <a:ext cx="5187707" cy="41483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C30E53E-4266-2582-CA21-62E04B204C9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207" y="1868133"/>
            <a:ext cx="5227331" cy="41483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95622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56FEE6-25AA-6D14-1308-A47A4D20D8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D6578AC2-8E0C-6062-04E8-EE68B3228D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632" y="232624"/>
            <a:ext cx="8343900" cy="9715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0A37AED-2234-2FE8-BFB9-6C05DD758F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7" y="5479587"/>
            <a:ext cx="8343897" cy="110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2797CA6-C7D3-5ED9-1BC1-2EA522CCCD9A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4784262"/>
            <a:ext cx="8343898" cy="69532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4CCC1FF9-D6CF-DE1E-A1A5-2A3481EB853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4072973"/>
            <a:ext cx="8343900" cy="742950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4A938AE9-26D9-A6C1-8023-66DA79B408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3311696"/>
            <a:ext cx="8336584" cy="790575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EC18BDF4-19EE-AB53-B8C9-C331D364203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7" y="2569125"/>
            <a:ext cx="8343899" cy="771525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3C9811C-7910-4BA0-A9CA-88E1C69E4A6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7632" y="1877230"/>
            <a:ext cx="8343900" cy="752475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499C957E-5934-4510-EE41-5A915CA65103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14948" y="1204174"/>
            <a:ext cx="834390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17554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B19452-3000-DF4A-F633-2C06CB0E4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Outcome and Future Work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6084D1-BF8A-599C-4DEE-5FD15C78EC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b="1" dirty="0"/>
              <a:t>Future Work:</a:t>
            </a:r>
          </a:p>
          <a:p>
            <a:r>
              <a:rPr lang="en-US" sz="2400" dirty="0"/>
              <a:t>Integrate OCR with translation</a:t>
            </a:r>
          </a:p>
          <a:p>
            <a:r>
              <a:rPr lang="en-US" sz="2400" dirty="0"/>
              <a:t>Complete image-to-Hindi pipeline</a:t>
            </a:r>
          </a:p>
          <a:p>
            <a:r>
              <a:rPr lang="en-US" sz="2400" dirty="0"/>
              <a:t>Improve translation accuracy</a:t>
            </a:r>
          </a:p>
          <a:p>
            <a:r>
              <a:rPr lang="en-US" sz="2400" dirty="0"/>
              <a:t>Create a user interface</a:t>
            </a:r>
          </a:p>
          <a:p>
            <a:pPr marL="0" indent="0">
              <a:buNone/>
            </a:pPr>
            <a:r>
              <a:rPr lang="en-US" sz="2400" b="1" dirty="0"/>
              <a:t>Expected Outcomes</a:t>
            </a:r>
          </a:p>
          <a:p>
            <a:r>
              <a:rPr lang="en-US" sz="2400" dirty="0"/>
              <a:t>Research Paper (Drafted)</a:t>
            </a:r>
          </a:p>
          <a:p>
            <a:r>
              <a:rPr lang="en-US" sz="2400" dirty="0"/>
              <a:t>Real-time deployment (Partially completed)</a:t>
            </a:r>
          </a:p>
        </p:txBody>
      </p:sp>
    </p:spTree>
    <p:extLst>
      <p:ext uri="{BB962C8B-B14F-4D97-AF65-F5344CB8AC3E}">
        <p14:creationId xmlns:p14="http://schemas.microsoft.com/office/powerpoint/2010/main" val="21549569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C5325-4A51-AE05-7BE6-440D74D0B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N" dirty="0"/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188C38-4C0A-7C78-2FF6-39EB62252E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IN" dirty="0"/>
              <a:t>&lt;One slide&gt;</a:t>
            </a:r>
          </a:p>
        </p:txBody>
      </p:sp>
    </p:spTree>
    <p:extLst>
      <p:ext uri="{BB962C8B-B14F-4D97-AF65-F5344CB8AC3E}">
        <p14:creationId xmlns:p14="http://schemas.microsoft.com/office/powerpoint/2010/main" val="272491750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7208BD6-2A31-5677-2B53-FD39A887D1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618467"/>
            <a:ext cx="5257800" cy="1325563"/>
          </a:xfrm>
        </p:spPr>
        <p:txBody>
          <a:bodyPr/>
          <a:lstStyle/>
          <a:p>
            <a:r>
              <a:rPr lang="en-IN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747106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434</Words>
  <Application>Microsoft Office PowerPoint</Application>
  <PresentationFormat>Widescreen</PresentationFormat>
  <Paragraphs>105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5" baseType="lpstr">
      <vt:lpstr>Aptos</vt:lpstr>
      <vt:lpstr>Aptos Display</vt:lpstr>
      <vt:lpstr>Arial</vt:lpstr>
      <vt:lpstr>Calibri</vt:lpstr>
      <vt:lpstr>Wingdings</vt:lpstr>
      <vt:lpstr>Office Theme</vt:lpstr>
      <vt:lpstr>English Text Extraction using OCR and Translation to Hindi using Transformer Mode</vt:lpstr>
      <vt:lpstr>Outline</vt:lpstr>
      <vt:lpstr>Introduction</vt:lpstr>
      <vt:lpstr>PowerPoint Presentation</vt:lpstr>
      <vt:lpstr>PowerPoint Presentation</vt:lpstr>
      <vt:lpstr>Literature Review</vt:lpstr>
      <vt:lpstr>PowerPoint Presentation</vt:lpstr>
      <vt:lpstr>Problem Statement</vt:lpstr>
      <vt:lpstr>Objectives</vt:lpstr>
      <vt:lpstr>Proposed Methodology</vt:lpstr>
      <vt:lpstr>PowerPoint Presentation</vt:lpstr>
      <vt:lpstr>PowerPoint Presentation</vt:lpstr>
      <vt:lpstr>PowerPoint Presentation</vt:lpstr>
      <vt:lpstr>Result </vt:lpstr>
      <vt:lpstr>Loss and Perplexity Graphs</vt:lpstr>
      <vt:lpstr>PowerPoint Presentation</vt:lpstr>
      <vt:lpstr>Outcome and Future Work </vt:lpstr>
      <vt:lpstr>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Akshay Jadhav [MU - Jaipur]</dc:creator>
  <cp:lastModifiedBy>Shlok Mishra</cp:lastModifiedBy>
  <cp:revision>9</cp:revision>
  <dcterms:created xsi:type="dcterms:W3CDTF">2025-09-29T05:03:41Z</dcterms:created>
  <dcterms:modified xsi:type="dcterms:W3CDTF">2026-02-15T09:56:32Z</dcterms:modified>
</cp:coreProperties>
</file>